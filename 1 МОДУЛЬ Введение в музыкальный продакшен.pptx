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MECA" initials="N" lastIdx="1" clrIdx="0">
    <p:extLst>
      <p:ext uri="{19B8F6BF-5375-455C-9EA6-DF929625EA0E}">
        <p15:presenceInfo xmlns:p15="http://schemas.microsoft.com/office/powerpoint/2012/main" userId="NAMEC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017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86427" y="428625"/>
            <a:ext cx="1371145" cy="390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Модуль 1</a:t>
            </a:r>
            <a:endParaRPr lang="en-US" sz="2436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74233" y="947245"/>
            <a:ext cx="3595535" cy="2220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Введение в музыкальный продакшен в Ableton Live</a:t>
            </a:r>
            <a:endParaRPr lang="en-US" sz="1159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2432782"/>
            <a:ext cx="1903809" cy="1285875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44811" y="2647820"/>
            <a:ext cx="357188" cy="357188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680" y="2740689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98357" y="3090732"/>
            <a:ext cx="250068" cy="1561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DAW</a:t>
            </a:r>
            <a:endParaRPr lang="en-US" sz="885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63942" y="3343610"/>
            <a:ext cx="1118896" cy="153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2" charset="0"/>
                <a:cs typeface="Space Grotesk" pitchFamily="2" charset="0"/>
              </a:rPr>
              <a:t>Цифровой мозг студии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2603897" y="2432782"/>
            <a:ext cx="1903809" cy="1285875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377208" y="2647820"/>
            <a:ext cx="357188" cy="357188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0077" y="2740689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49628" y="3090732"/>
            <a:ext cx="612347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Интерфейс</a:t>
            </a:r>
            <a:endParaRPr lang="en-US" sz="885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3014774" y="3343610"/>
            <a:ext cx="1082027" cy="153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2" charset="0"/>
                <a:cs typeface="Space Grotesk" pitchFamily="2" charset="0"/>
              </a:rPr>
              <a:t>Рабочее пространство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636294" y="2432782"/>
            <a:ext cx="1903809" cy="1285875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09605" y="2647820"/>
            <a:ext cx="357188" cy="357188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2473" y="2740689"/>
            <a:ext cx="171450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54196" y="3090732"/>
            <a:ext cx="1267976" cy="1561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Session &amp; Arrangement</a:t>
            </a:r>
            <a:endParaRPr lang="en-US" sz="885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102489" y="3343610"/>
            <a:ext cx="971420" cy="153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2" charset="0"/>
                <a:cs typeface="Space Grotesk" pitchFamily="2" charset="0"/>
              </a:rPr>
              <a:t>Два режима работы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668691" y="2432782"/>
            <a:ext cx="1903809" cy="1285875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42002" y="2647820"/>
            <a:ext cx="357188" cy="357188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870" y="2740689"/>
            <a:ext cx="171450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89561" y="3090732"/>
            <a:ext cx="662041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Первый луп</a:t>
            </a:r>
            <a:endParaRPr lang="en-US" sz="885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7219043" y="3343610"/>
            <a:ext cx="803105" cy="153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Space Grotesk" pitchFamily="2" charset="0"/>
                <a:cs typeface="Space Grotesk" pitchFamily="2" charset="0"/>
              </a:rPr>
              <a:t>Практика с нуля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3294941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DAW: Ваш цифровой мозг студии</a:t>
            </a:r>
            <a:endParaRPr lang="en-US" sz="160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810090"/>
            <a:ext cx="3893344" cy="3720024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0094" y="988684"/>
            <a:ext cx="285750" cy="2857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1067265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1569" y="1029398"/>
            <a:ext cx="1088439" cy="190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Что такое DAW?</a:t>
            </a:r>
            <a:endParaRPr lang="en-US" sz="1090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50094" y="1381590"/>
            <a:ext cx="3536156" cy="849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DAW (Digital Audio Workstation) — это программное обеспечение для записи, редактирования и воспроизведения аудио и MIDI данных. Это центральный инструмент современного музыкального продакшена.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50094" y="2738819"/>
            <a:ext cx="1131720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Основные компоненты</a:t>
            </a:r>
            <a:endParaRPr lang="en-US" sz="78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50094" y="3058502"/>
            <a:ext cx="2260427" cy="1762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Аудиоредактор для работы со звуком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50094" y="3322820"/>
            <a:ext cx="2257221" cy="1762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MIDI-редактор для создания мелодий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50094" y="3587139"/>
            <a:ext cx="2252411" cy="1762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Встроенные инструменты и эффекты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50094" y="3851458"/>
            <a:ext cx="2111347" cy="1762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Микшер для управления уровнями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50094" y="4115777"/>
            <a:ext cx="2186689" cy="1762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Система автоматизации параметров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679156" y="810090"/>
            <a:ext cx="3893344" cy="3677162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0094" y="3058502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●</a:t>
            </a:r>
            <a:endParaRPr lang="en-US" sz="885" dirty="0"/>
          </a:p>
        </p:txBody>
      </p:sp>
      <p:sp>
        <p:nvSpPr>
          <p:cNvPr id="17" name="Text 13"/>
          <p:cNvSpPr/>
          <p:nvPr/>
        </p:nvSpPr>
        <p:spPr>
          <a:xfrm>
            <a:off x="750094" y="3322820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●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750094" y="3587139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●</a:t>
            </a:r>
            <a:endParaRPr lang="en-US" sz="885" dirty="0"/>
          </a:p>
        </p:txBody>
      </p:sp>
      <p:sp>
        <p:nvSpPr>
          <p:cNvPr id="19" name="Text 15"/>
          <p:cNvSpPr/>
          <p:nvPr/>
        </p:nvSpPr>
        <p:spPr>
          <a:xfrm>
            <a:off x="750094" y="3851458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●</a:t>
            </a:r>
            <a:endParaRPr lang="en-US" sz="885" dirty="0"/>
          </a:p>
        </p:txBody>
      </p:sp>
      <p:sp>
        <p:nvSpPr>
          <p:cNvPr id="20" name="Text 16"/>
          <p:cNvSpPr/>
          <p:nvPr/>
        </p:nvSpPr>
        <p:spPr>
          <a:xfrm>
            <a:off x="750094" y="4115777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●</a:t>
            </a:r>
            <a:endParaRPr lang="en-US" sz="885" dirty="0"/>
          </a:p>
        </p:txBody>
      </p:sp>
      <p:sp>
        <p:nvSpPr>
          <p:cNvPr id="21" name="Shape 17"/>
          <p:cNvSpPr/>
          <p:nvPr/>
        </p:nvSpPr>
        <p:spPr>
          <a:xfrm>
            <a:off x="4857750" y="988684"/>
            <a:ext cx="285750" cy="2857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295" y="1067265"/>
            <a:ext cx="144661" cy="128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29225" y="1029398"/>
            <a:ext cx="1458733" cy="190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Почему Ableton Live?</a:t>
            </a:r>
            <a:endParaRPr lang="en-US" sz="1090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4857750" y="1467315"/>
            <a:ext cx="1352934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Уникальные преимущества</a:t>
            </a:r>
            <a:endParaRPr lang="en-US" sz="78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857750" y="1786998"/>
            <a:ext cx="2452787" cy="1762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Session View для импровизации и лупов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4857750" y="2051317"/>
            <a:ext cx="2356607" cy="1762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Интуитивный интерфейс для новичков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4857750" y="2315635"/>
            <a:ext cx="2117759" cy="1762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Мощные встроенные инструменты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4857750" y="2579954"/>
            <a:ext cx="2454390" cy="1762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Отличная поддержка MIDI-контроллеров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4857750" y="2844273"/>
            <a:ext cx="2071273" cy="1762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Идеален для электронной музыки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4857750" y="3108592"/>
            <a:ext cx="2574616" cy="176202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Подходит для студии и живого исполнения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4857750" y="1786998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●</a:t>
            </a:r>
            <a:endParaRPr lang="en-US" sz="885" dirty="0"/>
          </a:p>
        </p:txBody>
      </p:sp>
      <p:sp>
        <p:nvSpPr>
          <p:cNvPr id="32" name="Text 27"/>
          <p:cNvSpPr/>
          <p:nvPr/>
        </p:nvSpPr>
        <p:spPr>
          <a:xfrm>
            <a:off x="4857750" y="2051317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●</a:t>
            </a:r>
            <a:endParaRPr lang="en-US" sz="885" dirty="0"/>
          </a:p>
        </p:txBody>
      </p:sp>
      <p:sp>
        <p:nvSpPr>
          <p:cNvPr id="33" name="Text 28"/>
          <p:cNvSpPr/>
          <p:nvPr/>
        </p:nvSpPr>
        <p:spPr>
          <a:xfrm>
            <a:off x="4857750" y="2315635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●</a:t>
            </a:r>
            <a:endParaRPr lang="en-US" sz="885" dirty="0"/>
          </a:p>
        </p:txBody>
      </p:sp>
      <p:sp>
        <p:nvSpPr>
          <p:cNvPr id="34" name="Text 29"/>
          <p:cNvSpPr/>
          <p:nvPr/>
        </p:nvSpPr>
        <p:spPr>
          <a:xfrm>
            <a:off x="4857750" y="2579954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●</a:t>
            </a:r>
            <a:endParaRPr lang="en-US" sz="885" dirty="0"/>
          </a:p>
        </p:txBody>
      </p:sp>
      <p:sp>
        <p:nvSpPr>
          <p:cNvPr id="35" name="Text 30"/>
          <p:cNvSpPr/>
          <p:nvPr/>
        </p:nvSpPr>
        <p:spPr>
          <a:xfrm>
            <a:off x="4857750" y="2844273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●</a:t>
            </a:r>
            <a:endParaRPr lang="en-US" sz="885" dirty="0"/>
          </a:p>
        </p:txBody>
      </p:sp>
      <p:sp>
        <p:nvSpPr>
          <p:cNvPr id="36" name="Text 31"/>
          <p:cNvSpPr/>
          <p:nvPr/>
        </p:nvSpPr>
        <p:spPr>
          <a:xfrm>
            <a:off x="4857750" y="3108592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●</a:t>
            </a:r>
            <a:endParaRPr lang="en-US" sz="88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5467459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Интерфейс Ableton Live: Обзор рабочего пространства</a:t>
            </a:r>
            <a:endParaRPr lang="en-US" sz="160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810090"/>
            <a:ext cx="3893344" cy="871538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" name="Shape 2"/>
          <p:cNvSpPr/>
          <p:nvPr/>
        </p:nvSpPr>
        <p:spPr>
          <a:xfrm>
            <a:off x="678656" y="917246"/>
            <a:ext cx="214313" cy="214313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974396"/>
            <a:ext cx="100013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4406" y="936892"/>
            <a:ext cx="934551" cy="144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Browser (</a:t>
            </a:r>
            <a:r>
              <a:rPr lang="en-US" sz="885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Браузер</a:t>
            </a:r>
            <a:r>
              <a:rPr lang="en-US" sz="885" b="1" dirty="0">
                <a:solidFill>
                  <a:srgbClr val="000000"/>
                </a:solidFill>
              </a:rPr>
              <a:t>)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678656" y="1188709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Левая панель для поиска и загрузки сэмплов, инструментов, пресетов и эффектов. Организует всю библиотеку звуков.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71500" y="1745921"/>
            <a:ext cx="3893344" cy="871538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" name="Shape 6"/>
          <p:cNvSpPr/>
          <p:nvPr/>
        </p:nvSpPr>
        <p:spPr>
          <a:xfrm>
            <a:off x="678656" y="1853078"/>
            <a:ext cx="214313" cy="214313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06" y="1910228"/>
            <a:ext cx="100013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4406" y="1872723"/>
            <a:ext cx="1341714" cy="145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Info View (Информация)</a:t>
            </a:r>
            <a:endParaRPr lang="en-US" sz="885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78656" y="2124540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Отображает детали выбранного элемента, помощь и советы. Очень полезна для новичков.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71500" y="2681753"/>
            <a:ext cx="3893344" cy="871538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78656" y="2788909"/>
            <a:ext cx="214313" cy="214313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6" y="2846059"/>
            <a:ext cx="100013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4406" y="2808554"/>
            <a:ext cx="1974900" cy="145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Clip/Device View (Клип/Устройство)</a:t>
            </a:r>
            <a:endParaRPr lang="en-US" sz="885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78656" y="3060371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Правая панель для редактирования параметров клипов и эффектов. Здесь происходит основная работа.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71500" y="3617584"/>
            <a:ext cx="3893344" cy="871538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78656" y="3724740"/>
            <a:ext cx="214313" cy="214313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6" y="3781890"/>
            <a:ext cx="100013" cy="1000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4406" y="3744385"/>
            <a:ext cx="889667" cy="145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Mixer (Микшер)</a:t>
            </a:r>
            <a:endParaRPr lang="en-US" sz="885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678656" y="3996203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Управление уровнями дорожек, панорамой и отправками. Критичен для сведения трека.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4679156" y="810090"/>
            <a:ext cx="3893344" cy="3614738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BBDDB243-F79A-4110-AAD3-68DD227BB04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" r="59823"/>
          <a:stretch/>
        </p:blipFill>
        <p:spPr>
          <a:xfrm>
            <a:off x="4679156" y="810090"/>
            <a:ext cx="3893344" cy="3602779"/>
          </a:xfrm>
          <a:prstGeom prst="rect">
            <a:avLst/>
          </a:prstGeom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2392F32-4A6E-4F99-9250-C6CCD7845D18}"/>
              </a:ext>
            </a:extLst>
          </p:cNvPr>
          <p:cNvSpPr/>
          <p:nvPr/>
        </p:nvSpPr>
        <p:spPr>
          <a:xfrm>
            <a:off x="4679156" y="974396"/>
            <a:ext cx="1421198" cy="170735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250907A-CF39-4897-852F-2FEEF7F02CAB}"/>
              </a:ext>
            </a:extLst>
          </p:cNvPr>
          <p:cNvSpPr/>
          <p:nvPr/>
        </p:nvSpPr>
        <p:spPr>
          <a:xfrm>
            <a:off x="4679156" y="3781891"/>
            <a:ext cx="781118" cy="5515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0B0875D-62AA-4F1B-AEF7-76A76C27937D}"/>
              </a:ext>
            </a:extLst>
          </p:cNvPr>
          <p:cNvSpPr/>
          <p:nvPr/>
        </p:nvSpPr>
        <p:spPr>
          <a:xfrm>
            <a:off x="5460274" y="3781890"/>
            <a:ext cx="3112226" cy="5515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ECA1A0D-C87A-4811-A09A-BB00D68D4650}"/>
              </a:ext>
            </a:extLst>
          </p:cNvPr>
          <p:cNvSpPr/>
          <p:nvPr/>
        </p:nvSpPr>
        <p:spPr>
          <a:xfrm>
            <a:off x="6152606" y="2934113"/>
            <a:ext cx="1384663" cy="83581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2679A1-857C-4015-AB20-5D2EB4CC2F06}"/>
              </a:ext>
            </a:extLst>
          </p:cNvPr>
          <p:cNvSpPr txBox="1"/>
          <p:nvPr/>
        </p:nvSpPr>
        <p:spPr>
          <a:xfrm>
            <a:off x="5036344" y="1898441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Browser (</a:t>
            </a:r>
            <a:r>
              <a:rPr lang="en-US" sz="900" b="1" dirty="0" err="1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Браузер</a:t>
            </a:r>
            <a:r>
              <a:rPr lang="en-US" sz="9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)</a:t>
            </a:r>
            <a:endParaRPr lang="en-US" sz="900" dirty="0">
              <a:solidFill>
                <a:schemeClr val="bg1"/>
              </a:solidFill>
              <a:highlight>
                <a:srgbClr val="000000"/>
              </a:highlight>
              <a:latin typeface="Space Grotesk" pitchFamily="2" charset="0"/>
              <a:cs typeface="Space Grotesk" pitchFamily="2" charset="0"/>
            </a:endParaRPr>
          </a:p>
          <a:p>
            <a:endParaRPr lang="ru-RU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8D9302-C82D-4D62-9251-2BCC737E7A9F}"/>
              </a:ext>
            </a:extLst>
          </p:cNvPr>
          <p:cNvSpPr txBox="1"/>
          <p:nvPr/>
        </p:nvSpPr>
        <p:spPr>
          <a:xfrm>
            <a:off x="4621108" y="4115510"/>
            <a:ext cx="1093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Info View (</a:t>
            </a:r>
            <a:r>
              <a:rPr lang="en-US" sz="600" b="1" dirty="0" err="1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Информация</a:t>
            </a:r>
            <a:r>
              <a:rPr lang="en-US" sz="6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)</a:t>
            </a:r>
            <a:endParaRPr lang="en-US" sz="600" dirty="0">
              <a:solidFill>
                <a:schemeClr val="bg1"/>
              </a:solidFill>
              <a:highlight>
                <a:srgbClr val="000000"/>
              </a:highlight>
              <a:latin typeface="Space Grotesk" pitchFamily="2" charset="0"/>
              <a:cs typeface="Space Grotesk" pitchFamily="2" charset="0"/>
            </a:endParaRPr>
          </a:p>
          <a:p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7E10A5-FD29-493F-8ED3-85B1B30FC479}"/>
              </a:ext>
            </a:extLst>
          </p:cNvPr>
          <p:cNvSpPr txBox="1"/>
          <p:nvPr/>
        </p:nvSpPr>
        <p:spPr>
          <a:xfrm>
            <a:off x="6100354" y="3987619"/>
            <a:ext cx="196560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Clip/Device View (</a:t>
            </a:r>
            <a:r>
              <a:rPr lang="en-US" sz="800" b="1" dirty="0" err="1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Клип</a:t>
            </a:r>
            <a:r>
              <a:rPr lang="en-US" sz="8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/</a:t>
            </a:r>
            <a:r>
              <a:rPr lang="en-US" sz="800" b="1" dirty="0" err="1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Устройство</a:t>
            </a:r>
            <a:r>
              <a:rPr lang="en-US" sz="8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)</a:t>
            </a:r>
            <a:endParaRPr lang="en-US" sz="800" dirty="0">
              <a:solidFill>
                <a:schemeClr val="bg1"/>
              </a:solidFill>
              <a:highlight>
                <a:srgbClr val="000000"/>
              </a:highlight>
              <a:latin typeface="Space Grotesk" pitchFamily="2" charset="0"/>
              <a:cs typeface="Space Grotesk" pitchFamily="2" charset="0"/>
            </a:endParaRPr>
          </a:p>
          <a:p>
            <a:endParaRPr lang="ru-RU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75F3D0-41FA-428C-B4BE-64D51AD50503}"/>
              </a:ext>
            </a:extLst>
          </p:cNvPr>
          <p:cNvSpPr txBox="1"/>
          <p:nvPr/>
        </p:nvSpPr>
        <p:spPr>
          <a:xfrm>
            <a:off x="6392729" y="3159658"/>
            <a:ext cx="90441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Mixer (</a:t>
            </a:r>
            <a:r>
              <a:rPr lang="en-US" sz="800" b="1" dirty="0" err="1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Микшер</a:t>
            </a:r>
            <a:r>
              <a:rPr lang="en-US" sz="8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)</a:t>
            </a:r>
            <a:endParaRPr lang="en-US" sz="800" dirty="0">
              <a:solidFill>
                <a:schemeClr val="bg1"/>
              </a:solidFill>
              <a:highlight>
                <a:srgbClr val="000000"/>
              </a:highlight>
              <a:latin typeface="Space Grotesk" pitchFamily="2" charset="0"/>
              <a:cs typeface="Space Grotesk" pitchFamily="2" charset="0"/>
            </a:endParaRPr>
          </a:p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5964774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Session View: Игровая площадка для идей и импровизации</a:t>
            </a:r>
            <a:endParaRPr lang="en-US" sz="160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760084"/>
            <a:ext cx="7143750" cy="413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Session View — это режим, оптимизированный для создания лупов, импровизации и живого исполнения. Здесь вы работаете с клипами в сетке, где каждый столбец — это дорожка, а каждая строка — это сцена.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1375842"/>
            <a:ext cx="2571750" cy="3253560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4375" y="1518717"/>
            <a:ext cx="285750" cy="2857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56" y="1597298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5850" y="1568723"/>
            <a:ext cx="1101264" cy="1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Дорожки (Tracks)</a:t>
            </a:r>
            <a:endParaRPr lang="en-US" sz="987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14375" y="1947342"/>
            <a:ext cx="2286000" cy="342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Вертикальные столбцы, каждый из которых содержит инструмент или аудиоисточник.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14375" y="2710244"/>
            <a:ext cx="628377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Типы дорожек</a:t>
            </a:r>
            <a:endParaRPr lang="en-US" sz="683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14375" y="2974563"/>
            <a:ext cx="1717458" cy="162930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MIDI дорожки для синтезаторов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14375" y="3188875"/>
            <a:ext cx="1512273" cy="162930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Аудиодорожки для сэмплов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14375" y="3403188"/>
            <a:ext cx="1903406" cy="162930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Возвратные дорожки для эффектов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14375" y="3617500"/>
            <a:ext cx="1948290" cy="162930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Мастер-дорожка для микширования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14375" y="3946113"/>
            <a:ext cx="2286000" cy="49755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Shape 12"/>
          <p:cNvSpPr/>
          <p:nvPr/>
        </p:nvSpPr>
        <p:spPr>
          <a:xfrm>
            <a:off x="714375" y="3946113"/>
            <a:ext cx="2286000" cy="214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3"/>
          <p:cNvSpPr/>
          <p:nvPr/>
        </p:nvSpPr>
        <p:spPr>
          <a:xfrm>
            <a:off x="714375" y="3010281"/>
            <a:ext cx="571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386" b="1" dirty="0">
                <a:solidFill>
                  <a:srgbClr val="000000"/>
                </a:solidFill>
              </a:rPr>
              <a:t>●</a:t>
            </a:r>
            <a:endParaRPr lang="en-US" sz="386" dirty="0"/>
          </a:p>
        </p:txBody>
      </p:sp>
      <p:sp>
        <p:nvSpPr>
          <p:cNvPr id="18" name="Text 14"/>
          <p:cNvSpPr/>
          <p:nvPr/>
        </p:nvSpPr>
        <p:spPr>
          <a:xfrm>
            <a:off x="714375" y="3224594"/>
            <a:ext cx="571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386" b="1" dirty="0">
                <a:solidFill>
                  <a:srgbClr val="000000"/>
                </a:solidFill>
              </a:rPr>
              <a:t>●</a:t>
            </a:r>
            <a:endParaRPr lang="en-US" sz="386" dirty="0"/>
          </a:p>
        </p:txBody>
      </p:sp>
      <p:sp>
        <p:nvSpPr>
          <p:cNvPr id="19" name="Text 15"/>
          <p:cNvSpPr/>
          <p:nvPr/>
        </p:nvSpPr>
        <p:spPr>
          <a:xfrm>
            <a:off x="714375" y="3438906"/>
            <a:ext cx="571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386" b="1" dirty="0">
                <a:solidFill>
                  <a:srgbClr val="000000"/>
                </a:solidFill>
              </a:rPr>
              <a:t>●</a:t>
            </a:r>
            <a:endParaRPr lang="en-US" sz="386" dirty="0"/>
          </a:p>
        </p:txBody>
      </p:sp>
      <p:sp>
        <p:nvSpPr>
          <p:cNvPr id="20" name="Text 16"/>
          <p:cNvSpPr/>
          <p:nvPr/>
        </p:nvSpPr>
        <p:spPr>
          <a:xfrm>
            <a:off x="714375" y="3653219"/>
            <a:ext cx="571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386" b="1" dirty="0">
                <a:solidFill>
                  <a:srgbClr val="000000"/>
                </a:solidFill>
              </a:rPr>
              <a:t>●</a:t>
            </a:r>
            <a:endParaRPr lang="en-US" sz="386" dirty="0"/>
          </a:p>
        </p:txBody>
      </p:sp>
      <p:sp>
        <p:nvSpPr>
          <p:cNvPr id="21" name="Text 17"/>
          <p:cNvSpPr/>
          <p:nvPr/>
        </p:nvSpPr>
        <p:spPr>
          <a:xfrm>
            <a:off x="800100" y="4031838"/>
            <a:ext cx="456856" cy="967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2" charset="0"/>
                <a:cs typeface="Space Grotesk" pitchFamily="2" charset="0"/>
              </a:rPr>
              <a:t>Применение</a:t>
            </a:r>
            <a:endParaRPr lang="en-US" sz="58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800100" y="4176499"/>
            <a:ext cx="1280800" cy="150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2" charset="0"/>
                <a:cs typeface="Space Grotesk" pitchFamily="2" charset="0"/>
              </a:rPr>
              <a:t>Организация</a:t>
            </a:r>
            <a:r>
              <a:rPr lang="en-US" sz="784" b="1" dirty="0">
                <a:solidFill>
                  <a:srgbClr val="FFFFFF"/>
                </a:solidFill>
              </a:rPr>
              <a:t> инструментов</a:t>
            </a:r>
            <a:endParaRPr lang="en-US" sz="784" dirty="0"/>
          </a:p>
        </p:txBody>
      </p:sp>
      <p:sp>
        <p:nvSpPr>
          <p:cNvPr id="23" name="Shape 19"/>
          <p:cNvSpPr/>
          <p:nvPr/>
        </p:nvSpPr>
        <p:spPr>
          <a:xfrm>
            <a:off x="3286125" y="1375842"/>
            <a:ext cx="2571750" cy="3253560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429000" y="1518717"/>
            <a:ext cx="285750" cy="2857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7581" y="1597298"/>
            <a:ext cx="128588" cy="128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800475" y="1568723"/>
            <a:ext cx="830356" cy="1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Слоты (Slots)</a:t>
            </a:r>
            <a:endParaRPr lang="en-US" sz="987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3429000" y="1947342"/>
            <a:ext cx="2286000" cy="52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Ячейки в сетке, где размещаются аудио- или MIDI-клипы. Каждый слот может содержать один клип.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3429000" y="2710244"/>
            <a:ext cx="779059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Работа со слотами</a:t>
            </a:r>
            <a:endParaRPr lang="en-US" sz="683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3429000" y="2974563"/>
            <a:ext cx="1350370" cy="162930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Перетащить клип в слот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3429000" y="3188875"/>
            <a:ext cx="1209305" cy="162930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Записать новый клип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3429000" y="3403188"/>
            <a:ext cx="1605248" cy="162930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Запустить клип кнопкой Play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3429000" y="3617500"/>
            <a:ext cx="1711046" cy="162930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Остановить клип кнопкой Stop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3429000" y="3946113"/>
            <a:ext cx="2286000" cy="49755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Shape 29"/>
          <p:cNvSpPr/>
          <p:nvPr/>
        </p:nvSpPr>
        <p:spPr>
          <a:xfrm>
            <a:off x="3429000" y="3946113"/>
            <a:ext cx="2286000" cy="214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0"/>
          <p:cNvSpPr/>
          <p:nvPr/>
        </p:nvSpPr>
        <p:spPr>
          <a:xfrm>
            <a:off x="3429000" y="3010281"/>
            <a:ext cx="571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386" b="1" dirty="0">
                <a:solidFill>
                  <a:srgbClr val="000000"/>
                </a:solidFill>
              </a:rPr>
              <a:t>●</a:t>
            </a:r>
            <a:endParaRPr lang="en-US" sz="386" dirty="0"/>
          </a:p>
        </p:txBody>
      </p:sp>
      <p:sp>
        <p:nvSpPr>
          <p:cNvPr id="36" name="Text 31"/>
          <p:cNvSpPr/>
          <p:nvPr/>
        </p:nvSpPr>
        <p:spPr>
          <a:xfrm>
            <a:off x="3429000" y="3224594"/>
            <a:ext cx="571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386" b="1" dirty="0">
                <a:solidFill>
                  <a:srgbClr val="000000"/>
                </a:solidFill>
              </a:rPr>
              <a:t>●</a:t>
            </a:r>
            <a:endParaRPr lang="en-US" sz="386" dirty="0"/>
          </a:p>
        </p:txBody>
      </p:sp>
      <p:sp>
        <p:nvSpPr>
          <p:cNvPr id="37" name="Text 32"/>
          <p:cNvSpPr/>
          <p:nvPr/>
        </p:nvSpPr>
        <p:spPr>
          <a:xfrm>
            <a:off x="3429000" y="3438906"/>
            <a:ext cx="571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386" b="1" dirty="0">
                <a:solidFill>
                  <a:srgbClr val="000000"/>
                </a:solidFill>
              </a:rPr>
              <a:t>●</a:t>
            </a:r>
            <a:endParaRPr lang="en-US" sz="386" dirty="0"/>
          </a:p>
        </p:txBody>
      </p:sp>
      <p:sp>
        <p:nvSpPr>
          <p:cNvPr id="38" name="Text 33"/>
          <p:cNvSpPr/>
          <p:nvPr/>
        </p:nvSpPr>
        <p:spPr>
          <a:xfrm>
            <a:off x="3429000" y="3653219"/>
            <a:ext cx="571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386" b="1" dirty="0">
                <a:solidFill>
                  <a:srgbClr val="000000"/>
                </a:solidFill>
              </a:rPr>
              <a:t>●</a:t>
            </a:r>
            <a:endParaRPr lang="en-US" sz="386" dirty="0"/>
          </a:p>
        </p:txBody>
      </p:sp>
      <p:sp>
        <p:nvSpPr>
          <p:cNvPr id="39" name="Text 34"/>
          <p:cNvSpPr/>
          <p:nvPr/>
        </p:nvSpPr>
        <p:spPr>
          <a:xfrm>
            <a:off x="3514725" y="4031838"/>
            <a:ext cx="456856" cy="967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2" charset="0"/>
                <a:cs typeface="Space Grotesk" pitchFamily="2" charset="0"/>
              </a:rPr>
              <a:t>Применение</a:t>
            </a:r>
            <a:endParaRPr lang="en-US" sz="58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3514725" y="4176499"/>
            <a:ext cx="1476366" cy="151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2" charset="0"/>
                <a:cs typeface="Space Grotesk" pitchFamily="2" charset="0"/>
              </a:rPr>
              <a:t>Создание лупов и фрагментов</a:t>
            </a:r>
            <a:endParaRPr lang="en-US" sz="78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1" name="Shape 36"/>
          <p:cNvSpPr/>
          <p:nvPr/>
        </p:nvSpPr>
        <p:spPr>
          <a:xfrm>
            <a:off x="6000750" y="1375842"/>
            <a:ext cx="2571750" cy="3253560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143625" y="1518717"/>
            <a:ext cx="285750" cy="2857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206" y="1597298"/>
            <a:ext cx="128588" cy="12858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515100" y="1568723"/>
            <a:ext cx="969817" cy="1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Сцены (Scenes)</a:t>
            </a:r>
            <a:endParaRPr lang="en-US" sz="987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6143625" y="1947342"/>
            <a:ext cx="2286000" cy="52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Горизонтальные ряды, где каждая строка содержит набор клипов, которые запускаются одновременно.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6" name="Text 40"/>
          <p:cNvSpPr/>
          <p:nvPr/>
        </p:nvSpPr>
        <p:spPr>
          <a:xfrm>
            <a:off x="6143625" y="2710244"/>
            <a:ext cx="868828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Использование сцен</a:t>
            </a:r>
            <a:endParaRPr lang="en-US" sz="683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7" name="Text 41"/>
          <p:cNvSpPr/>
          <p:nvPr/>
        </p:nvSpPr>
        <p:spPr>
          <a:xfrm>
            <a:off x="6143625" y="2974563"/>
            <a:ext cx="1470595" cy="162930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Нажать кнопку Play сцены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8" name="Text 42"/>
          <p:cNvSpPr/>
          <p:nvPr/>
        </p:nvSpPr>
        <p:spPr>
          <a:xfrm>
            <a:off x="6143625" y="3188875"/>
            <a:ext cx="1613262" cy="162930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Все клипы в сцене запустятся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9" name="Text 43"/>
          <p:cNvSpPr/>
          <p:nvPr/>
        </p:nvSpPr>
        <p:spPr>
          <a:xfrm>
            <a:off x="6143625" y="3403188"/>
            <a:ext cx="1634102" cy="162930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Переход между частями трека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0" name="Text 44"/>
          <p:cNvSpPr/>
          <p:nvPr/>
        </p:nvSpPr>
        <p:spPr>
          <a:xfrm>
            <a:off x="6143625" y="3617500"/>
            <a:ext cx="1820050" cy="162930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Идеально для живого исполнения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1" name="Shape 45"/>
          <p:cNvSpPr/>
          <p:nvPr/>
        </p:nvSpPr>
        <p:spPr>
          <a:xfrm>
            <a:off x="6143625" y="3946113"/>
            <a:ext cx="2286000" cy="49755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2" name="Shape 46"/>
          <p:cNvSpPr/>
          <p:nvPr/>
        </p:nvSpPr>
        <p:spPr>
          <a:xfrm>
            <a:off x="6143625" y="3946113"/>
            <a:ext cx="2286000" cy="214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3" name="Text 47"/>
          <p:cNvSpPr/>
          <p:nvPr/>
        </p:nvSpPr>
        <p:spPr>
          <a:xfrm>
            <a:off x="6143625" y="3010281"/>
            <a:ext cx="571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386" b="1" dirty="0">
                <a:solidFill>
                  <a:srgbClr val="000000"/>
                </a:solidFill>
              </a:rPr>
              <a:t>●</a:t>
            </a:r>
            <a:endParaRPr lang="en-US" sz="386" dirty="0"/>
          </a:p>
        </p:txBody>
      </p:sp>
      <p:sp>
        <p:nvSpPr>
          <p:cNvPr id="54" name="Text 48"/>
          <p:cNvSpPr/>
          <p:nvPr/>
        </p:nvSpPr>
        <p:spPr>
          <a:xfrm>
            <a:off x="6143625" y="3224594"/>
            <a:ext cx="571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386" b="1" dirty="0">
                <a:solidFill>
                  <a:srgbClr val="000000"/>
                </a:solidFill>
              </a:rPr>
              <a:t>●</a:t>
            </a:r>
            <a:endParaRPr lang="en-US" sz="386" dirty="0"/>
          </a:p>
        </p:txBody>
      </p:sp>
      <p:sp>
        <p:nvSpPr>
          <p:cNvPr id="55" name="Text 49"/>
          <p:cNvSpPr/>
          <p:nvPr/>
        </p:nvSpPr>
        <p:spPr>
          <a:xfrm>
            <a:off x="6143625" y="3438906"/>
            <a:ext cx="571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386" b="1" dirty="0">
                <a:solidFill>
                  <a:srgbClr val="000000"/>
                </a:solidFill>
              </a:rPr>
              <a:t>●</a:t>
            </a:r>
            <a:endParaRPr lang="en-US" sz="386" dirty="0"/>
          </a:p>
        </p:txBody>
      </p:sp>
      <p:sp>
        <p:nvSpPr>
          <p:cNvPr id="56" name="Text 50"/>
          <p:cNvSpPr/>
          <p:nvPr/>
        </p:nvSpPr>
        <p:spPr>
          <a:xfrm>
            <a:off x="6143625" y="3653219"/>
            <a:ext cx="571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386" b="1" dirty="0">
                <a:solidFill>
                  <a:srgbClr val="000000"/>
                </a:solidFill>
              </a:rPr>
              <a:t>●</a:t>
            </a:r>
            <a:endParaRPr lang="en-US" sz="386" dirty="0"/>
          </a:p>
        </p:txBody>
      </p:sp>
      <p:sp>
        <p:nvSpPr>
          <p:cNvPr id="57" name="Text 51"/>
          <p:cNvSpPr/>
          <p:nvPr/>
        </p:nvSpPr>
        <p:spPr>
          <a:xfrm>
            <a:off x="6229350" y="4031838"/>
            <a:ext cx="456856" cy="967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2" charset="0"/>
                <a:cs typeface="Space Grotesk" pitchFamily="2" charset="0"/>
              </a:rPr>
              <a:t>Применение</a:t>
            </a:r>
            <a:endParaRPr lang="en-US" sz="58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8" name="Text 52"/>
          <p:cNvSpPr/>
          <p:nvPr/>
        </p:nvSpPr>
        <p:spPr>
          <a:xfrm>
            <a:off x="6229350" y="4176499"/>
            <a:ext cx="1537280" cy="1515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2" charset="0"/>
                <a:cs typeface="Space Grotesk" pitchFamily="2" charset="0"/>
              </a:rPr>
              <a:t>Структура и живое исполнение</a:t>
            </a:r>
            <a:endParaRPr lang="en-US" sz="784" dirty="0">
              <a:latin typeface="Space Grotesk" pitchFamily="2" charset="0"/>
              <a:cs typeface="Space Grotesk" pitchFamily="2" charset="0"/>
            </a:endParaRPr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D82C6AF0-C408-4A5D-B547-8E6DA35438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0" y="192449"/>
            <a:ext cx="532197" cy="512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4794389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Arrangement View: Структура и таймлайн трека</a:t>
            </a:r>
            <a:endParaRPr lang="en-US" sz="160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810090"/>
            <a:ext cx="3893344" cy="871538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8656" y="917246"/>
            <a:ext cx="214313" cy="214313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974396"/>
            <a:ext cx="100013" cy="1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4406" y="936892"/>
            <a:ext cx="1133324" cy="145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Timeline (Таймлайн)</a:t>
            </a:r>
            <a:endParaRPr lang="en-US" sz="885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78656" y="1188709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Горизонтальная шкала времени, отображающая позицию в треке в барах и битах. Основа для точной работы.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71500" y="1745921"/>
            <a:ext cx="3893344" cy="871538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78656" y="1853078"/>
            <a:ext cx="214313" cy="214313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06" y="1910228"/>
            <a:ext cx="100013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4406" y="1872723"/>
            <a:ext cx="987450" cy="145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 err="1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Дорожки</a:t>
            </a:r>
            <a:r>
              <a:rPr lang="en-US" sz="885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 (Tracks)</a:t>
            </a:r>
            <a:endParaRPr lang="en-US" sz="885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78656" y="2124540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ru-RU" sz="834" dirty="0">
                <a:solidFill>
                  <a:srgbClr val="333333"/>
                </a:solidFill>
                <a:cs typeface="Space Grotesk" pitchFamily="2" charset="0"/>
              </a:rPr>
              <a:t>Горизонтальные </a:t>
            </a:r>
            <a:r>
              <a:rPr lang="en-US" sz="834" dirty="0" err="1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полосы</a:t>
            </a: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 для каждого инструмента или звука. Позволяют организовать все элементы трека.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71500" y="2681753"/>
            <a:ext cx="3893344" cy="871538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78656" y="2788909"/>
            <a:ext cx="214313" cy="214313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6" y="2846059"/>
            <a:ext cx="100013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4406" y="2808554"/>
            <a:ext cx="1074012" cy="145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Маркеры (Markers)</a:t>
            </a:r>
            <a:endParaRPr lang="en-US" sz="885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78656" y="3060371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ru-RU" sz="834" dirty="0">
                <a:solidFill>
                  <a:srgbClr val="333333"/>
                </a:solidFill>
                <a:cs typeface="Space Grotesk" pitchFamily="2" charset="0"/>
              </a:rPr>
              <a:t>Способ выделения </a:t>
            </a:r>
            <a:r>
              <a:rPr lang="en-US" sz="834" dirty="0" err="1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важны</a:t>
            </a:r>
            <a:r>
              <a:rPr lang="ru-RU" sz="834" dirty="0">
                <a:solidFill>
                  <a:srgbClr val="333333"/>
                </a:solidFill>
                <a:cs typeface="Space Grotesk" pitchFamily="2" charset="0"/>
              </a:rPr>
              <a:t>х</a:t>
            </a: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 </a:t>
            </a:r>
            <a:r>
              <a:rPr lang="en-US" sz="834" dirty="0" err="1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точ</a:t>
            </a:r>
            <a:r>
              <a:rPr lang="ru-RU" sz="834" dirty="0">
                <a:solidFill>
                  <a:srgbClr val="333333"/>
                </a:solidFill>
                <a:cs typeface="Space Grotesk" pitchFamily="2" charset="0"/>
              </a:rPr>
              <a:t>ек </a:t>
            </a: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в треке (куплет, припев, бридж). Помогают навигации и структурированию.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71500" y="3617584"/>
            <a:ext cx="3893344" cy="871538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78656" y="3724740"/>
            <a:ext cx="214313" cy="214313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806" y="3781890"/>
            <a:ext cx="100013" cy="1000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4406" y="3744385"/>
            <a:ext cx="1158972" cy="145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Локаторы (Locators)</a:t>
            </a:r>
            <a:endParaRPr lang="en-US" sz="885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678656" y="3996203"/>
            <a:ext cx="36790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Определяют начало и конец области воспроизведения. Удобны для работы с отдельными секциями.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4679156" y="810090"/>
            <a:ext cx="3893344" cy="3614738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F8C39F3-3C27-4485-8CF7-EC1AB789D0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0" y="185692"/>
            <a:ext cx="480060" cy="48081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AB4F0DA0-6007-4FD3-8BBD-6D56174A79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9156" y="810090"/>
            <a:ext cx="3893344" cy="3614738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404CACD6-AB38-4CA5-B8AE-D1F4E26E53C9}"/>
              </a:ext>
            </a:extLst>
          </p:cNvPr>
          <p:cNvSpPr/>
          <p:nvPr/>
        </p:nvSpPr>
        <p:spPr>
          <a:xfrm>
            <a:off x="4679156" y="4361259"/>
            <a:ext cx="3350419" cy="63569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AD8589A-525E-4213-AE5B-E6CC0834B712}"/>
              </a:ext>
            </a:extLst>
          </p:cNvPr>
          <p:cNvSpPr/>
          <p:nvPr/>
        </p:nvSpPr>
        <p:spPr>
          <a:xfrm>
            <a:off x="4679155" y="885461"/>
            <a:ext cx="3350419" cy="63569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E7A39B-BF90-4657-AB3D-20FE851478CA}"/>
              </a:ext>
            </a:extLst>
          </p:cNvPr>
          <p:cNvSpPr txBox="1"/>
          <p:nvPr/>
        </p:nvSpPr>
        <p:spPr>
          <a:xfrm>
            <a:off x="6824663" y="3910590"/>
            <a:ext cx="12041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Timeline (</a:t>
            </a:r>
            <a:r>
              <a:rPr lang="en-US" sz="800" b="1" dirty="0" err="1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Таймлайн</a:t>
            </a:r>
            <a:r>
              <a:rPr lang="en-US" sz="8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)</a:t>
            </a:r>
            <a:endParaRPr lang="en-US" sz="800" dirty="0">
              <a:solidFill>
                <a:schemeClr val="bg1"/>
              </a:solidFill>
              <a:highlight>
                <a:srgbClr val="000000"/>
              </a:highlight>
              <a:latin typeface="Space Grotesk" pitchFamily="2" charset="0"/>
              <a:cs typeface="Space Grotesk" pitchFamily="2" charset="0"/>
            </a:endParaRPr>
          </a:p>
          <a:p>
            <a:endParaRPr lang="ru-RU" dirty="0"/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9E3562C1-AD38-4C98-8320-81A285335726}"/>
              </a:ext>
            </a:extLst>
          </p:cNvPr>
          <p:cNvCxnSpPr/>
          <p:nvPr/>
        </p:nvCxnSpPr>
        <p:spPr>
          <a:xfrm flipH="1">
            <a:off x="6772275" y="4133850"/>
            <a:ext cx="247650" cy="19956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E11C8D5-92D8-47C7-883A-F9E3078D4023}"/>
              </a:ext>
            </a:extLst>
          </p:cNvPr>
          <p:cNvSpPr txBox="1"/>
          <p:nvPr/>
        </p:nvSpPr>
        <p:spPr>
          <a:xfrm>
            <a:off x="6569867" y="978580"/>
            <a:ext cx="3893345" cy="22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Timeline (</a:t>
            </a:r>
            <a:r>
              <a:rPr lang="en-US" sz="600" b="1" dirty="0" err="1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Таймлайн</a:t>
            </a:r>
            <a:r>
              <a:rPr lang="en-US" sz="6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)</a:t>
            </a:r>
            <a:r>
              <a:rPr lang="ru-RU" sz="600" b="1" dirty="0">
                <a:solidFill>
                  <a:schemeClr val="bg1"/>
                </a:solidFill>
                <a:highlight>
                  <a:srgbClr val="000000"/>
                </a:highlight>
                <a:cs typeface="Space Grotesk" pitchFamily="2" charset="0"/>
              </a:rPr>
              <a:t> Бары/Квадраты</a:t>
            </a:r>
            <a:endParaRPr lang="en-US" sz="600" dirty="0">
              <a:solidFill>
                <a:schemeClr val="bg1"/>
              </a:solidFill>
              <a:highlight>
                <a:srgbClr val="000000"/>
              </a:highlight>
              <a:latin typeface="Space Grotesk" pitchFamily="2" charset="0"/>
              <a:cs typeface="Space Grotesk" pitchFamily="2" charset="0"/>
            </a:endParaRPr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C9D3BFF3-889F-4202-8023-809BAA919DA0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6355555" y="974396"/>
            <a:ext cx="214312" cy="11822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41D69FA4-4A9F-4B61-8D6D-758FE2868CAE}"/>
              </a:ext>
            </a:extLst>
          </p:cNvPr>
          <p:cNvSpPr/>
          <p:nvPr/>
        </p:nvSpPr>
        <p:spPr>
          <a:xfrm>
            <a:off x="4679156" y="1341438"/>
            <a:ext cx="3842543" cy="871538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FDFBF3-DCD7-4924-8296-C8E249875707}"/>
              </a:ext>
            </a:extLst>
          </p:cNvPr>
          <p:cNvSpPr txBox="1"/>
          <p:nvPr/>
        </p:nvSpPr>
        <p:spPr>
          <a:xfrm>
            <a:off x="6048375" y="1681628"/>
            <a:ext cx="18622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Дорожки</a:t>
            </a:r>
            <a:r>
              <a:rPr lang="en-US" sz="8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 (Tracks)</a:t>
            </a:r>
            <a:endParaRPr lang="en-US" sz="800" dirty="0">
              <a:solidFill>
                <a:schemeClr val="bg1"/>
              </a:solidFill>
              <a:highlight>
                <a:srgbClr val="000000"/>
              </a:highlight>
              <a:latin typeface="Space Grotesk" pitchFamily="2" charset="0"/>
              <a:cs typeface="Space Grotesk" pitchFamily="2" charset="0"/>
            </a:endParaRPr>
          </a:p>
          <a:p>
            <a:endParaRPr lang="ru-RU" dirty="0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F381A90D-4A1C-4762-9420-41DEC96AD6DF}"/>
              </a:ext>
            </a:extLst>
          </p:cNvPr>
          <p:cNvSpPr/>
          <p:nvPr/>
        </p:nvSpPr>
        <p:spPr>
          <a:xfrm>
            <a:off x="5407819" y="1052513"/>
            <a:ext cx="490537" cy="1160463"/>
          </a:xfrm>
          <a:prstGeom prst="rect">
            <a:avLst/>
          </a:prstGeom>
          <a:noFill/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B15BF1-A8B4-47CB-9060-55FF38E3420D}"/>
              </a:ext>
            </a:extLst>
          </p:cNvPr>
          <p:cNvSpPr txBox="1"/>
          <p:nvPr/>
        </p:nvSpPr>
        <p:spPr>
          <a:xfrm rot="19313635">
            <a:off x="5246159" y="1249519"/>
            <a:ext cx="1245391" cy="221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400" b="1" dirty="0" err="1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Маркеры</a:t>
            </a:r>
            <a:r>
              <a:rPr lang="en-US" sz="4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 (Markers)</a:t>
            </a:r>
            <a:endParaRPr lang="en-US" sz="400" dirty="0">
              <a:solidFill>
                <a:schemeClr val="bg1"/>
              </a:solidFill>
              <a:highlight>
                <a:srgbClr val="000000"/>
              </a:highlight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830049C7-8191-42BE-A540-0FEC1FC894CE}"/>
              </a:ext>
            </a:extLst>
          </p:cNvPr>
          <p:cNvSpPr/>
          <p:nvPr/>
        </p:nvSpPr>
        <p:spPr>
          <a:xfrm>
            <a:off x="5381625" y="949030"/>
            <a:ext cx="542925" cy="74875"/>
          </a:xfrm>
          <a:prstGeom prst="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F95706-AB98-466C-BB5C-37BCF81FD2B8}"/>
              </a:ext>
            </a:extLst>
          </p:cNvPr>
          <p:cNvSpPr txBox="1"/>
          <p:nvPr/>
        </p:nvSpPr>
        <p:spPr>
          <a:xfrm>
            <a:off x="5381625" y="840090"/>
            <a:ext cx="574288" cy="372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300" b="1" dirty="0" err="1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Локаторы</a:t>
            </a:r>
            <a:r>
              <a:rPr lang="en-US" sz="300" b="1" dirty="0">
                <a:solidFill>
                  <a:schemeClr val="bg1"/>
                </a:solidFill>
                <a:highlight>
                  <a:srgbClr val="000000"/>
                </a:highlight>
                <a:latin typeface="Space Grotesk" pitchFamily="2" charset="0"/>
                <a:cs typeface="Space Grotesk" pitchFamily="2" charset="0"/>
              </a:rPr>
              <a:t> (Locators)</a:t>
            </a:r>
            <a:endParaRPr lang="en-US" sz="300" dirty="0">
              <a:solidFill>
                <a:schemeClr val="bg1"/>
              </a:solidFill>
              <a:highlight>
                <a:srgbClr val="000000"/>
              </a:highlight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ABE44D70-622E-42B6-89C3-F05D12C53715}"/>
              </a:ext>
            </a:extLst>
          </p:cNvPr>
          <p:cNvSpPr/>
          <p:nvPr/>
        </p:nvSpPr>
        <p:spPr>
          <a:xfrm>
            <a:off x="5416549" y="4167653"/>
            <a:ext cx="481807" cy="193606"/>
          </a:xfrm>
          <a:prstGeom prst="rect">
            <a:avLst/>
          </a:prstGeom>
          <a:noFill/>
          <a:ln w="63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3425618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Первичная настройка: Звук и MIDI</a:t>
            </a:r>
            <a:endParaRPr lang="en-US" sz="160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810090"/>
            <a:ext cx="3893344" cy="2164556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924390"/>
            <a:ext cx="250031" cy="2500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78" y="992256"/>
            <a:ext cx="142875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7269" y="952072"/>
            <a:ext cx="1784143" cy="1681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Настройка аудиоинтерфейса</a:t>
            </a:r>
            <a:endParaRPr lang="en-US" sz="987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85800" y="1419361"/>
            <a:ext cx="3664744" cy="16293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Подключите аудиоинтерфейс (Focusrite, Behringer и т.д.) по USB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85800" y="1617334"/>
            <a:ext cx="2973571" cy="162930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Установите драйверы с диска или сайта производителя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85800" y="1831646"/>
            <a:ext cx="2571217" cy="162930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Откройте Ableton Live → Preferences → Audio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85800" y="2045959"/>
            <a:ext cx="3103414" cy="162930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Выберите ASIO (Windows) или Core Audio (Mac) драйвер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85800" y="2260271"/>
            <a:ext cx="3010440" cy="162930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Установите Input/Output устройство на ваш интерфейс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85800" y="2474584"/>
            <a:ext cx="3664744" cy="343556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Проверьте уровни и отрегулируйте буфер (256</a:t>
            </a:r>
            <a:r>
              <a:rPr lang="ru-RU" sz="834" dirty="0">
                <a:solidFill>
                  <a:srgbClr val="333333"/>
                </a:solidFill>
                <a:cs typeface="Space Grotesk" pitchFamily="2" charset="0"/>
              </a:rPr>
              <a:t> , </a:t>
            </a: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512 </a:t>
            </a:r>
            <a:r>
              <a:rPr lang="ru-RU" sz="834" dirty="0">
                <a:solidFill>
                  <a:srgbClr val="333333"/>
                </a:solidFill>
                <a:cs typeface="Space Grotesk" pitchFamily="2" charset="0"/>
              </a:rPr>
              <a:t>или 2048 </a:t>
            </a: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samples)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71500" y="3017509"/>
            <a:ext cx="3893344" cy="1607344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1417755"/>
            <a:ext cx="157163" cy="1571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2"/>
          <p:cNvSpPr/>
          <p:nvPr/>
        </p:nvSpPr>
        <p:spPr>
          <a:xfrm>
            <a:off x="683022" y="141221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7" name="Shape 13"/>
          <p:cNvSpPr/>
          <p:nvPr/>
        </p:nvSpPr>
        <p:spPr>
          <a:xfrm>
            <a:off x="685800" y="1617334"/>
            <a:ext cx="157163" cy="1571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161733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9" name="Shape 15"/>
          <p:cNvSpPr/>
          <p:nvPr/>
        </p:nvSpPr>
        <p:spPr>
          <a:xfrm>
            <a:off x="685800" y="1831646"/>
            <a:ext cx="157163" cy="1571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Text 16"/>
          <p:cNvSpPr/>
          <p:nvPr/>
        </p:nvSpPr>
        <p:spPr>
          <a:xfrm>
            <a:off x="685800" y="183164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21" name="Shape 17"/>
          <p:cNvSpPr/>
          <p:nvPr/>
        </p:nvSpPr>
        <p:spPr>
          <a:xfrm>
            <a:off x="685800" y="2045959"/>
            <a:ext cx="157163" cy="1571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" y="204595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23" name="Shape 19"/>
          <p:cNvSpPr/>
          <p:nvPr/>
        </p:nvSpPr>
        <p:spPr>
          <a:xfrm>
            <a:off x="685800" y="2260271"/>
            <a:ext cx="157163" cy="1571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" y="226027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5</a:t>
            </a:r>
            <a:endParaRPr lang="en-US" sz="584" dirty="0"/>
          </a:p>
        </p:txBody>
      </p:sp>
      <p:sp>
        <p:nvSpPr>
          <p:cNvPr id="25" name="Shape 21"/>
          <p:cNvSpPr/>
          <p:nvPr/>
        </p:nvSpPr>
        <p:spPr>
          <a:xfrm>
            <a:off x="685800" y="2474584"/>
            <a:ext cx="157163" cy="1571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Text 22"/>
          <p:cNvSpPr/>
          <p:nvPr/>
        </p:nvSpPr>
        <p:spPr>
          <a:xfrm>
            <a:off x="685800" y="247458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6</a:t>
            </a:r>
            <a:endParaRPr lang="en-US" sz="584" dirty="0"/>
          </a:p>
        </p:txBody>
      </p:sp>
      <p:sp>
        <p:nvSpPr>
          <p:cNvPr id="27" name="Shape 23"/>
          <p:cNvSpPr/>
          <p:nvPr/>
        </p:nvSpPr>
        <p:spPr>
          <a:xfrm>
            <a:off x="685800" y="3131809"/>
            <a:ext cx="250031" cy="2500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522" y="3199674"/>
            <a:ext cx="128588" cy="1143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007269" y="3159491"/>
            <a:ext cx="1808187" cy="1681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Настройка MIDI-контроллера</a:t>
            </a:r>
            <a:endParaRPr lang="en-US" sz="987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685800" y="3438990"/>
            <a:ext cx="2085507" cy="162930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Подключите MIDI-клавиатуру по USB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685800" y="3653303"/>
            <a:ext cx="2019784" cy="162930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Откройте Preferences → MIDI Ports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685800" y="3867615"/>
            <a:ext cx="2797241" cy="162930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Включите Track и Remote для вашего контроллера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685800" y="4081928"/>
            <a:ext cx="3225242" cy="162930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Протестируйте: нажмите клавишу и проверьте MIDI Monitor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685800" y="4296240"/>
            <a:ext cx="2576026" cy="162930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Настройте макросы и управление параметрами</a:t>
            </a:r>
            <a:endParaRPr lang="en-US" sz="8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4679156" y="810089"/>
            <a:ext cx="3779044" cy="3814763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85800" y="3438990"/>
            <a:ext cx="157163" cy="1571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Text 32"/>
          <p:cNvSpPr/>
          <p:nvPr/>
        </p:nvSpPr>
        <p:spPr>
          <a:xfrm>
            <a:off x="685800" y="343899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38" name="Shape 33"/>
          <p:cNvSpPr/>
          <p:nvPr/>
        </p:nvSpPr>
        <p:spPr>
          <a:xfrm>
            <a:off x="685800" y="3653303"/>
            <a:ext cx="157163" cy="1571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Text 34"/>
          <p:cNvSpPr/>
          <p:nvPr/>
        </p:nvSpPr>
        <p:spPr>
          <a:xfrm>
            <a:off x="685800" y="365330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40" name="Shape 35"/>
          <p:cNvSpPr/>
          <p:nvPr/>
        </p:nvSpPr>
        <p:spPr>
          <a:xfrm>
            <a:off x="685800" y="3867615"/>
            <a:ext cx="157163" cy="1571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Text 36"/>
          <p:cNvSpPr/>
          <p:nvPr/>
        </p:nvSpPr>
        <p:spPr>
          <a:xfrm>
            <a:off x="685800" y="386761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42" name="Shape 37"/>
          <p:cNvSpPr/>
          <p:nvPr/>
        </p:nvSpPr>
        <p:spPr>
          <a:xfrm>
            <a:off x="685800" y="4081928"/>
            <a:ext cx="157163" cy="1571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Text 38"/>
          <p:cNvSpPr/>
          <p:nvPr/>
        </p:nvSpPr>
        <p:spPr>
          <a:xfrm>
            <a:off x="685800" y="408192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44" name="Shape 39"/>
          <p:cNvSpPr/>
          <p:nvPr/>
        </p:nvSpPr>
        <p:spPr>
          <a:xfrm>
            <a:off x="685800" y="4296240"/>
            <a:ext cx="157163" cy="1571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Text 40"/>
          <p:cNvSpPr/>
          <p:nvPr/>
        </p:nvSpPr>
        <p:spPr>
          <a:xfrm>
            <a:off x="685800" y="429624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5</a:t>
            </a:r>
            <a:endParaRPr lang="en-US" sz="584" dirty="0"/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E6F0A7E7-642E-4411-B43D-C8CFB0F114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636" y="819017"/>
            <a:ext cx="1882701" cy="3805835"/>
          </a:xfrm>
          <a:prstGeom prst="rect">
            <a:avLst/>
          </a:prstGeom>
        </p:spPr>
      </p:pic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B1E4E453-CB86-4D9C-8A34-7A9582B50657}"/>
              </a:ext>
            </a:extLst>
          </p:cNvPr>
          <p:cNvSpPr/>
          <p:nvPr/>
        </p:nvSpPr>
        <p:spPr>
          <a:xfrm>
            <a:off x="4681258" y="1293223"/>
            <a:ext cx="300317" cy="126138"/>
          </a:xfrm>
          <a:custGeom>
            <a:avLst/>
            <a:gdLst>
              <a:gd name="connsiteX0" fmla="*/ 0 w 707043"/>
              <a:gd name="connsiteY0" fmla="*/ 0 h 126138"/>
              <a:gd name="connsiteX1" fmla="*/ 707043 w 707043"/>
              <a:gd name="connsiteY1" fmla="*/ 0 h 126138"/>
              <a:gd name="connsiteX2" fmla="*/ 707043 w 707043"/>
              <a:gd name="connsiteY2" fmla="*/ 126138 h 126138"/>
              <a:gd name="connsiteX3" fmla="*/ 0 w 707043"/>
              <a:gd name="connsiteY3" fmla="*/ 126138 h 126138"/>
              <a:gd name="connsiteX4" fmla="*/ 0 w 707043"/>
              <a:gd name="connsiteY4" fmla="*/ 0 h 126138"/>
              <a:gd name="connsiteX0" fmla="*/ 0 w 707043"/>
              <a:gd name="connsiteY0" fmla="*/ 0 h 126138"/>
              <a:gd name="connsiteX1" fmla="*/ 707043 w 707043"/>
              <a:gd name="connsiteY1" fmla="*/ 0 h 126138"/>
              <a:gd name="connsiteX2" fmla="*/ 707043 w 707043"/>
              <a:gd name="connsiteY2" fmla="*/ 126138 h 126138"/>
              <a:gd name="connsiteX3" fmla="*/ 0 w 707043"/>
              <a:gd name="connsiteY3" fmla="*/ 126138 h 126138"/>
              <a:gd name="connsiteX4" fmla="*/ 0 w 707043"/>
              <a:gd name="connsiteY4" fmla="*/ 0 h 126138"/>
              <a:gd name="connsiteX0" fmla="*/ 0 w 707043"/>
              <a:gd name="connsiteY0" fmla="*/ 0 h 126138"/>
              <a:gd name="connsiteX1" fmla="*/ 707043 w 707043"/>
              <a:gd name="connsiteY1" fmla="*/ 0 h 126138"/>
              <a:gd name="connsiteX2" fmla="*/ 707043 w 707043"/>
              <a:gd name="connsiteY2" fmla="*/ 126138 h 126138"/>
              <a:gd name="connsiteX3" fmla="*/ 0 w 707043"/>
              <a:gd name="connsiteY3" fmla="*/ 126138 h 126138"/>
              <a:gd name="connsiteX4" fmla="*/ 0 w 707043"/>
              <a:gd name="connsiteY4" fmla="*/ 0 h 12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043" h="126138">
                <a:moveTo>
                  <a:pt x="0" y="0"/>
                </a:moveTo>
                <a:lnTo>
                  <a:pt x="707043" y="0"/>
                </a:lnTo>
                <a:cubicBezTo>
                  <a:pt x="609411" y="65858"/>
                  <a:pt x="707043" y="84092"/>
                  <a:pt x="707043" y="126138"/>
                </a:cubicBezTo>
                <a:lnTo>
                  <a:pt x="0" y="12613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3B08E7F8-3AAF-4886-A950-92F5272C77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337" y="819018"/>
            <a:ext cx="1914926" cy="3814763"/>
          </a:xfrm>
          <a:prstGeom prst="rect">
            <a:avLst/>
          </a:prstGeom>
        </p:spPr>
      </p:pic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AF992E38-8AC8-4DE3-BE53-A02E02B4BE12}"/>
              </a:ext>
            </a:extLst>
          </p:cNvPr>
          <p:cNvSpPr/>
          <p:nvPr/>
        </p:nvSpPr>
        <p:spPr>
          <a:xfrm>
            <a:off x="6576433" y="1469571"/>
            <a:ext cx="314224" cy="31921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3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4077591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Работа с клипами: Аудио, MIDI и Warping</a:t>
            </a:r>
            <a:endParaRPr lang="en-US" sz="160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810090"/>
            <a:ext cx="3972163" cy="2228850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  <p:txBody>
          <a:bodyPr/>
          <a:lstStyle/>
          <a:p>
            <a:r>
              <a:rPr lang="en-US" dirty="0"/>
              <a:t>v</a:t>
            </a:r>
            <a:endParaRPr lang="ru-RU" dirty="0"/>
          </a:p>
        </p:txBody>
      </p:sp>
      <p:sp>
        <p:nvSpPr>
          <p:cNvPr id="5" name="Shape 2"/>
          <p:cNvSpPr/>
          <p:nvPr/>
        </p:nvSpPr>
        <p:spPr>
          <a:xfrm>
            <a:off x="642938" y="881528"/>
            <a:ext cx="285750" cy="2857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45" y="960109"/>
            <a:ext cx="160734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0125" y="922241"/>
            <a:ext cx="929742" cy="190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Аудио-клипы</a:t>
            </a:r>
            <a:endParaRPr lang="en-US" sz="1090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2938" y="1238715"/>
            <a:ext cx="354264" cy="1202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Что </a:t>
            </a:r>
            <a:r>
              <a:rPr lang="en-US" sz="734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это</a:t>
            </a:r>
            <a:r>
              <a:rPr lang="en-US" sz="734" b="1" dirty="0">
                <a:solidFill>
                  <a:srgbClr val="000000"/>
                </a:solidFill>
              </a:rPr>
              <a:t>?</a:t>
            </a:r>
            <a:endParaRPr lang="en-US" sz="734" dirty="0"/>
          </a:p>
        </p:txBody>
      </p:sp>
      <p:sp>
        <p:nvSpPr>
          <p:cNvPr id="9" name="Text 5"/>
          <p:cNvSpPr/>
          <p:nvPr/>
        </p:nvSpPr>
        <p:spPr>
          <a:xfrm>
            <a:off x="642938" y="1442312"/>
            <a:ext cx="2926122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Контейнер для записанного или загруженного звука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2938" y="1653053"/>
            <a:ext cx="2627964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Может содержать вокал, инструменты, сэмплы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2938" y="1906656"/>
            <a:ext cx="615553" cy="121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Возможности</a:t>
            </a:r>
            <a:endParaRPr lang="en-US" sz="7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42938" y="1442312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642938" y="1653053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642938" y="2110253"/>
            <a:ext cx="2246449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Редактирование громкости и панорамы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42938" y="2320993"/>
            <a:ext cx="2347437" cy="164725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Применение эффектов (EQ, Reverb и </a:t>
            </a:r>
            <a:r>
              <a:rPr lang="en-US" sz="888" dirty="0" err="1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т.д</a:t>
            </a: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.)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42938" y="2531734"/>
            <a:ext cx="2026837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Изменение скорости и высоты тона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42938" y="2742474"/>
            <a:ext cx="2161489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Warping для синхронизации с темпом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661297" y="810090"/>
            <a:ext cx="4421743" cy="2228850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2938" y="2110253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20" name="Text 16"/>
          <p:cNvSpPr/>
          <p:nvPr/>
        </p:nvSpPr>
        <p:spPr>
          <a:xfrm>
            <a:off x="642938" y="2320993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21" name="Text 17"/>
          <p:cNvSpPr/>
          <p:nvPr/>
        </p:nvSpPr>
        <p:spPr>
          <a:xfrm>
            <a:off x="642938" y="2531734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22" name="Text 18"/>
          <p:cNvSpPr/>
          <p:nvPr/>
        </p:nvSpPr>
        <p:spPr>
          <a:xfrm>
            <a:off x="642938" y="2742474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23" name="Shape 19"/>
          <p:cNvSpPr/>
          <p:nvPr/>
        </p:nvSpPr>
        <p:spPr>
          <a:xfrm>
            <a:off x="4732734" y="881528"/>
            <a:ext cx="285750" cy="2857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316" y="960109"/>
            <a:ext cx="128588" cy="128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89922" y="922241"/>
            <a:ext cx="803105" cy="190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MIDI-клипы</a:t>
            </a:r>
            <a:endParaRPr lang="en-US" sz="1090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4732734" y="1238715"/>
            <a:ext cx="394339" cy="121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Что это?</a:t>
            </a:r>
            <a:endParaRPr lang="en-US" sz="7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4732734" y="1442312"/>
            <a:ext cx="2679260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Контейнер для информации о нотах и событиях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4732734" y="1653053"/>
            <a:ext cx="2990242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Не содержит звук, только команды для инструментов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4732734" y="1906656"/>
            <a:ext cx="615553" cy="121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Возможности</a:t>
            </a:r>
            <a:endParaRPr lang="en-US" sz="73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4732734" y="1442312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31" name="Text 26"/>
          <p:cNvSpPr/>
          <p:nvPr/>
        </p:nvSpPr>
        <p:spPr>
          <a:xfrm>
            <a:off x="4732734" y="1653053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32" name="Text 27"/>
          <p:cNvSpPr/>
          <p:nvPr/>
        </p:nvSpPr>
        <p:spPr>
          <a:xfrm>
            <a:off x="4732734" y="2110253"/>
            <a:ext cx="2716128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Редактирование отдельных нот и их параметров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4732734" y="2320993"/>
            <a:ext cx="2098973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Изменение скорости </a:t>
            </a: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воспроизведения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4732734" y="2531734"/>
            <a:ext cx="2249655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Применение к любому </a:t>
            </a: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MIDI-инструменту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4732734" y="2742474"/>
            <a:ext cx="2393925" cy="163827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Полная гибкость в </a:t>
            </a: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редактировании</a:t>
            </a:r>
            <a:r>
              <a:rPr lang="en-US" sz="888" dirty="0">
                <a:solidFill>
                  <a:srgbClr val="333333"/>
                </a:solidFill>
              </a:rPr>
              <a:t> мелодий</a:t>
            </a:r>
            <a:endParaRPr lang="en-US" sz="888" dirty="0"/>
          </a:p>
        </p:txBody>
      </p:sp>
      <p:sp>
        <p:nvSpPr>
          <p:cNvPr id="36" name="Shape 31"/>
          <p:cNvSpPr/>
          <p:nvPr/>
        </p:nvSpPr>
        <p:spPr>
          <a:xfrm>
            <a:off x="571500" y="3110378"/>
            <a:ext cx="8511540" cy="1781640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732734" y="2110253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38" name="Text 33"/>
          <p:cNvSpPr/>
          <p:nvPr/>
        </p:nvSpPr>
        <p:spPr>
          <a:xfrm>
            <a:off x="4732734" y="2320993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39" name="Text 34"/>
          <p:cNvSpPr/>
          <p:nvPr/>
        </p:nvSpPr>
        <p:spPr>
          <a:xfrm>
            <a:off x="4732734" y="2531734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40" name="Text 35"/>
          <p:cNvSpPr/>
          <p:nvPr/>
        </p:nvSpPr>
        <p:spPr>
          <a:xfrm>
            <a:off x="4732734" y="2742474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41" name="Shape 36"/>
          <p:cNvSpPr/>
          <p:nvPr/>
        </p:nvSpPr>
        <p:spPr>
          <a:xfrm>
            <a:off x="642938" y="3181815"/>
            <a:ext cx="285750" cy="2857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555" y="3260396"/>
            <a:ext cx="112514" cy="12858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1000125" y="3222529"/>
            <a:ext cx="3090590" cy="190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Warping: Синхронизация сэмплов с проектом</a:t>
            </a:r>
            <a:endParaRPr lang="en-US" sz="1090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4" name="Text 38"/>
          <p:cNvSpPr/>
          <p:nvPr/>
        </p:nvSpPr>
        <p:spPr>
          <a:xfrm>
            <a:off x="642938" y="3510428"/>
            <a:ext cx="7858125" cy="366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Warping — это ключевая функция Ableton Live, которая позволяет синхронизировать любой аудиосэмпл с темпом вашего проекта, независимо от его оригинального BPM.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642938" y="3941899"/>
            <a:ext cx="3017493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Автоматическое определение ударов (beats) в сэмпле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6" name="Text 40"/>
          <p:cNvSpPr/>
          <p:nvPr/>
        </p:nvSpPr>
        <p:spPr>
          <a:xfrm>
            <a:off x="642938" y="4159783"/>
            <a:ext cx="3147336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Ручное добавление маркеров для точной синхронизации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7" name="Text 41"/>
          <p:cNvSpPr/>
          <p:nvPr/>
        </p:nvSpPr>
        <p:spPr>
          <a:xfrm>
            <a:off x="642938" y="4377668"/>
            <a:ext cx="2570255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Изменение темпа без изменения высоты тона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8" name="Text 42"/>
          <p:cNvSpPr/>
          <p:nvPr/>
        </p:nvSpPr>
        <p:spPr>
          <a:xfrm>
            <a:off x="642938" y="4595552"/>
            <a:ext cx="2355453" cy="164725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Идеален для работы с лупами и сэмплами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9" name="Text 43"/>
          <p:cNvSpPr/>
          <p:nvPr/>
        </p:nvSpPr>
        <p:spPr>
          <a:xfrm>
            <a:off x="642938" y="3941899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50" name="Text 44"/>
          <p:cNvSpPr/>
          <p:nvPr/>
        </p:nvSpPr>
        <p:spPr>
          <a:xfrm>
            <a:off x="642938" y="4159783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51" name="Text 45"/>
          <p:cNvSpPr/>
          <p:nvPr/>
        </p:nvSpPr>
        <p:spPr>
          <a:xfrm>
            <a:off x="642938" y="4377668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sp>
        <p:nvSpPr>
          <p:cNvPr id="52" name="Text 46"/>
          <p:cNvSpPr/>
          <p:nvPr/>
        </p:nvSpPr>
        <p:spPr>
          <a:xfrm>
            <a:off x="642938" y="4595552"/>
            <a:ext cx="121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●</a:t>
            </a:r>
            <a:endParaRPr lang="en-US" sz="834" dirty="0"/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6A9D6C68-882B-4EE7-8306-FBDD0BDF54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9628" y="884965"/>
            <a:ext cx="657317" cy="653788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6EC5D2A2-43C6-4E02-AE1F-35B416B219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9938" y="2284400"/>
            <a:ext cx="1899761" cy="711883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D8B1E246-12E3-4F82-873D-494E3D5037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9763" y="884965"/>
            <a:ext cx="657317" cy="647790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C1F22556-6CEC-4136-A231-43E1E29618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0375" y="1835219"/>
            <a:ext cx="1506706" cy="1161064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7AEB44DF-5D84-4758-9357-F9DA7CD1D3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9763" y="3709913"/>
            <a:ext cx="5030180" cy="1115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4624792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Организация проекта: Чистота — залог успеха</a:t>
            </a:r>
            <a:endParaRPr lang="en-US" sz="160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810090"/>
            <a:ext cx="3893344" cy="1238659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0088" y="938678"/>
            <a:ext cx="250031" cy="2500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09" y="1006543"/>
            <a:ext cx="128588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5844" y="971717"/>
            <a:ext cx="979435" cy="1567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36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Структура папок</a:t>
            </a:r>
            <a:endParaRPr lang="en-US" sz="936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00088" y="1260146"/>
            <a:ext cx="36361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Создавайте папки для сэмплов, инструментов, пресетов и экспортов. Логичная структура экономит время и предотвращает потерю файлов.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71500" y="2113043"/>
            <a:ext cx="3893344" cy="1238659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00088" y="2241631"/>
            <a:ext cx="250031" cy="2500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97" y="2309496"/>
            <a:ext cx="100013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5844" y="2274670"/>
            <a:ext cx="1134926" cy="157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36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Collect All and Save</a:t>
            </a:r>
            <a:endParaRPr lang="en-US" sz="936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00088" y="2563099"/>
            <a:ext cx="36361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Функция Ableton Live, которая собирает все внешние файлы в одну папку проекта. Это гарантирует, что проект всегда работает корректно.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71500" y="3415996"/>
            <a:ext cx="3893344" cy="1238659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0088" y="3544584"/>
            <a:ext cx="250031" cy="2500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241" y="3612449"/>
            <a:ext cx="8572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35844" y="3577623"/>
            <a:ext cx="1165384" cy="1567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36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Создание шаблонов</a:t>
            </a:r>
            <a:endParaRPr lang="en-US" sz="936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00088" y="3866052"/>
            <a:ext cx="36361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Сохраняйте готовые проекты как шаблоны с предустановками. Это ускорит старт новых треков и обеспечит консистентность звука.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679156" y="810089"/>
            <a:ext cx="3893344" cy="3844565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D1DB104-25D8-40F3-BE7C-33A4C37BA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157" y="810090"/>
            <a:ext cx="1773894" cy="384456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6F1BB25-DA66-461F-84BB-DBED461F2F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8258" y="811849"/>
            <a:ext cx="2184242" cy="204277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4A6C1E5-0E42-41EA-9F69-8F66BCDD52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8259" y="2854628"/>
            <a:ext cx="2184242" cy="1800026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E815E4F-81F8-42E0-BF5F-CB2ED78FCB69}"/>
              </a:ext>
            </a:extLst>
          </p:cNvPr>
          <p:cNvSpPr/>
          <p:nvPr/>
        </p:nvSpPr>
        <p:spPr>
          <a:xfrm>
            <a:off x="4679157" y="3180252"/>
            <a:ext cx="1709101" cy="2357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1A332AE-1C1E-4817-AF65-9AAC79E977D3}"/>
              </a:ext>
            </a:extLst>
          </p:cNvPr>
          <p:cNvSpPr/>
          <p:nvPr/>
        </p:nvSpPr>
        <p:spPr>
          <a:xfrm>
            <a:off x="6916978" y="2491662"/>
            <a:ext cx="563401" cy="2057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F430347-E25C-4807-A33E-C15FD6847F9E}"/>
              </a:ext>
            </a:extLst>
          </p:cNvPr>
          <p:cNvSpPr/>
          <p:nvPr/>
        </p:nvSpPr>
        <p:spPr>
          <a:xfrm>
            <a:off x="7901228" y="4492574"/>
            <a:ext cx="375225" cy="1080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6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4458785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Практика: Создание первого 8-барного лупа</a:t>
            </a:r>
            <a:endParaRPr lang="en-US" sz="160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810090"/>
            <a:ext cx="3893344" cy="478631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8656" y="852953"/>
            <a:ext cx="228600" cy="228600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8656" y="85295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1014413" y="852953"/>
            <a:ext cx="3343275" cy="34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Откройте новый проект Ableton Live и убедитесь, что вы находитесь в Session View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1303009"/>
            <a:ext cx="3893344" cy="478631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8656" y="1345871"/>
            <a:ext cx="228600" cy="228600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8656" y="134587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1014413" y="1345871"/>
            <a:ext cx="3343275" cy="34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Загрузите аудиосэмпл (барабаны, луп) в Browser и перетащите его на пустую дорожку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1500" y="1795928"/>
            <a:ext cx="3893344" cy="478631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8656" y="1838790"/>
            <a:ext cx="228600" cy="228600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8656" y="183879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1014413" y="1838790"/>
            <a:ext cx="3343275" cy="34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Установите длину клипа на 8 баров (8 bars). Используйте Clip View для редактирования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71500" y="2288846"/>
            <a:ext cx="3893344" cy="478631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8656" y="2331709"/>
            <a:ext cx="228600" cy="228600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8656" y="233170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1014413" y="2331709"/>
            <a:ext cx="3343275" cy="34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Включите Warping для синхронизации сэмпла с темпом </a:t>
            </a:r>
            <a:r>
              <a:rPr lang="en-US" sz="888" dirty="0" err="1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проекта</a:t>
            </a: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 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71500" y="2781765"/>
            <a:ext cx="3893344" cy="478631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8656" y="2824628"/>
            <a:ext cx="228600" cy="228600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8656" y="28246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5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1014413" y="2824628"/>
            <a:ext cx="3343275" cy="34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Создайте новую MIDI дорожку и загрузите синтезатор (например, Operator или Wavetable)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71500" y="3274684"/>
            <a:ext cx="3893344" cy="478631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8656" y="3317546"/>
            <a:ext cx="228600" cy="228600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8656" y="331754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6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1014413" y="3317546"/>
            <a:ext cx="3343275" cy="34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Запишите простую мелодию на 8 баров, используя MIDI-клавиатуру или мышь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71500" y="3767603"/>
            <a:ext cx="3893344" cy="478631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78656" y="3810465"/>
            <a:ext cx="228600" cy="228600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8656" y="381046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7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1014413" y="3810465"/>
            <a:ext cx="3343275" cy="34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Создайте сцену (Scene), которая будет запускать оба клипа одновременно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571500" y="4260521"/>
            <a:ext cx="3893344" cy="478631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8656" y="4303384"/>
            <a:ext cx="228600" cy="228600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8656" y="43033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8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1014413" y="4303384"/>
            <a:ext cx="3343275" cy="34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Нажмите кнопку Play сцены и слушайте свой первый луп! Отрегулируйте громкость и эффекты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679156" y="810090"/>
            <a:ext cx="3893344" cy="3929062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4BB2E82-01AE-40B8-B3E1-291BAE0A0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86" y="2711436"/>
            <a:ext cx="2500313" cy="2027716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E0E068A-DB96-467B-B734-9312FF86DC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6" y="810090"/>
            <a:ext cx="1393031" cy="3929062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4BBC10A0-01BE-42B3-8FB2-2B469FD20E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87" y="810090"/>
            <a:ext cx="2500313" cy="19013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01908" y="428625"/>
            <a:ext cx="2540183" cy="327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016" b="1" kern="0" spc="-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Фундамент заложен</a:t>
            </a:r>
            <a:endParaRPr lang="en-US" sz="2016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619542" y="1078706"/>
            <a:ext cx="3904915" cy="1990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Вы освоили основные концепции и инструменты Ableton Live</a:t>
            </a:r>
            <a:endParaRPr lang="en-US" sz="1050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1471250"/>
            <a:ext cx="2571750" cy="1426601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78781" y="1628412"/>
            <a:ext cx="357188" cy="357188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794" y="1728425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1207" y="2071325"/>
            <a:ext cx="1032334" cy="166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DAW и интерфейс</a:t>
            </a:r>
            <a:endParaRPr lang="en-US" sz="936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00088" y="2333495"/>
            <a:ext cx="2314575" cy="34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Понимание структуры и назначения основных элементов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86125" y="1471250"/>
            <a:ext cx="2571750" cy="1426601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93406" y="1628412"/>
            <a:ext cx="357188" cy="357188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3419" y="1728425"/>
            <a:ext cx="157163" cy="1571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03534" y="2071325"/>
            <a:ext cx="1336904" cy="1676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Session &amp; Arrangement</a:t>
            </a:r>
            <a:endParaRPr lang="en-US" sz="936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3631839" y="2333495"/>
            <a:ext cx="1880322" cy="1638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Два режима </a:t>
            </a: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работы</a:t>
            </a:r>
            <a:r>
              <a:rPr lang="en-US" sz="888" dirty="0">
                <a:solidFill>
                  <a:srgbClr val="333333"/>
                </a:solidFill>
              </a:rPr>
              <a:t> для разных задач</a:t>
            </a:r>
            <a:endParaRPr lang="en-US" sz="888" dirty="0"/>
          </a:p>
        </p:txBody>
      </p:sp>
      <p:sp>
        <p:nvSpPr>
          <p:cNvPr id="15" name="Shape 10"/>
          <p:cNvSpPr/>
          <p:nvPr/>
        </p:nvSpPr>
        <p:spPr>
          <a:xfrm>
            <a:off x="6000750" y="1471250"/>
            <a:ext cx="2571750" cy="1426601"/>
          </a:xfrm>
          <a:prstGeom prst="rect">
            <a:avLst/>
          </a:prstGeom>
          <a:solidFill>
            <a:srgbClr val="F9F9F9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108031" y="1642700"/>
            <a:ext cx="357188" cy="357188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8044" y="1742712"/>
            <a:ext cx="157163" cy="1571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59050" y="2085612"/>
            <a:ext cx="1255151" cy="1653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36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Практические</a:t>
            </a:r>
            <a:r>
              <a:rPr lang="en-US" sz="936" b="1" dirty="0">
                <a:solidFill>
                  <a:srgbClr val="000000"/>
                </a:solidFill>
              </a:rPr>
              <a:t> навыки</a:t>
            </a:r>
            <a:endParaRPr lang="en-US" sz="936" dirty="0"/>
          </a:p>
        </p:txBody>
      </p:sp>
      <p:sp>
        <p:nvSpPr>
          <p:cNvPr id="19" name="Text 13"/>
          <p:cNvSpPr/>
          <p:nvPr/>
        </p:nvSpPr>
        <p:spPr>
          <a:xfrm>
            <a:off x="6129338" y="2347782"/>
            <a:ext cx="2314575" cy="164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Создание первых лупов и работа с клипами</a:t>
            </a:r>
            <a:endParaRPr lang="en-US" sz="888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4158330" y="3368976"/>
            <a:ext cx="827341" cy="132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Следующий этап</a:t>
            </a:r>
            <a:endParaRPr lang="en-US" sz="784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2962719" y="3610077"/>
            <a:ext cx="3218573" cy="2396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000000"/>
                </a:solidFill>
                <a:latin typeface="Space Grotesk" pitchFamily="2" charset="0"/>
                <a:cs typeface="Space Grotesk" pitchFamily="2" charset="0"/>
              </a:rPr>
              <a:t>Модуль 2: </a:t>
            </a:r>
            <a:r>
              <a:rPr lang="ru-RU" sz="1397" b="1" dirty="0">
                <a:solidFill>
                  <a:srgbClr val="000000"/>
                </a:solidFill>
                <a:cs typeface="Space Grotesk" pitchFamily="2" charset="0"/>
              </a:rPr>
              <a:t>Основы Ритма и </a:t>
            </a:r>
            <a:r>
              <a:rPr lang="ru-RU" sz="1397" b="1" dirty="0" err="1">
                <a:solidFill>
                  <a:srgbClr val="000000"/>
                </a:solidFill>
                <a:cs typeface="Space Grotesk" pitchFamily="2" charset="0"/>
              </a:rPr>
              <a:t>Битмейкинга</a:t>
            </a:r>
            <a:endParaRPr lang="en-US" sz="1397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894985" y="3941536"/>
            <a:ext cx="5354030" cy="185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Space Grotesk" pitchFamily="2" charset="0"/>
                <a:cs typeface="Space Grotesk" pitchFamily="2" charset="0"/>
              </a:rPr>
              <a:t>Создание мощных бит-паттернов, работа с барабанными машинами и синтезом ударных звуков</a:t>
            </a:r>
            <a:endParaRPr lang="en-US" sz="942" dirty="0"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71500" y="4432641"/>
            <a:ext cx="8001000" cy="28217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endParaRPr lang="en-US" sz="885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1066</Words>
  <Application>Microsoft Office PowerPoint</Application>
  <PresentationFormat>Экран (16:9)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Space Grotesk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NAMECA</cp:lastModifiedBy>
  <cp:revision>16</cp:revision>
  <dcterms:created xsi:type="dcterms:W3CDTF">2025-11-27T07:10:14Z</dcterms:created>
  <dcterms:modified xsi:type="dcterms:W3CDTF">2025-11-28T08:37:44Z</dcterms:modified>
</cp:coreProperties>
</file>